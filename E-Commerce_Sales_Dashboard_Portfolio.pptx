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5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8904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9784080" y="-1371600"/>
            <a:ext cx="4572000" cy="45720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-548640"/>
            <a:ext cx="2743200" cy="2743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74520"/>
            <a:ext cx="109728" cy="109728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33172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E-COMMERCE SALES ANALYTICS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0292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Power BI Portfolio Project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3794760"/>
            <a:ext cx="2926080" cy="0"/>
          </a:xfrm>
          <a:prstGeom prst="line">
            <a:avLst/>
          </a:prstGeom>
          <a:noFill/>
          <a:ln w="19050">
            <a:solidFill>
              <a:srgbClr val="FFC10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4114800"/>
            <a:ext cx="2427732" cy="384048"/>
          </a:xfrm>
          <a:prstGeom prst="roundRect">
            <a:avLst>
              <a:gd name="adj" fmla="val 19048"/>
            </a:avLst>
          </a:prstGeom>
          <a:solidFill>
            <a:srgbClr val="141B4D"/>
          </a:solidFill>
          <a:ln w="9525">
            <a:solidFill>
              <a:srgbClr val="8C9B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4114800"/>
            <a:ext cx="24277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Data Modeling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95244" y="4114800"/>
            <a:ext cx="1298448" cy="384048"/>
          </a:xfrm>
          <a:prstGeom prst="roundRect">
            <a:avLst>
              <a:gd name="adj" fmla="val 19048"/>
            </a:avLst>
          </a:prstGeom>
          <a:solidFill>
            <a:srgbClr val="141B4D"/>
          </a:solidFill>
          <a:ln w="9525">
            <a:solidFill>
              <a:srgbClr val="8C9B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95244" y="411480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58284" y="4114800"/>
            <a:ext cx="1559052" cy="384048"/>
          </a:xfrm>
          <a:prstGeom prst="roundRect">
            <a:avLst>
              <a:gd name="adj" fmla="val 19048"/>
            </a:avLst>
          </a:prstGeom>
          <a:solidFill>
            <a:srgbClr val="141B4D"/>
          </a:solidFill>
          <a:ln w="9525">
            <a:solidFill>
              <a:srgbClr val="8C9B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58284" y="4114800"/>
            <a:ext cx="15590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ETL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81928" y="4114800"/>
            <a:ext cx="2340864" cy="384048"/>
          </a:xfrm>
          <a:prstGeom prst="roundRect">
            <a:avLst>
              <a:gd name="adj" fmla="val 19048"/>
            </a:avLst>
          </a:prstGeom>
          <a:solidFill>
            <a:srgbClr val="141B4D"/>
          </a:solidFill>
          <a:ln w="9525">
            <a:solidFill>
              <a:srgbClr val="8C9B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81928" y="4114800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Drillthrough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5760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Karan Pawar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02920" y="614476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8C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B.Sc. Computer Science  |  </a:t>
            </a:r>
            <a:r>
              <a:rPr lang="en-US" sz="1200" dirty="0" smtClean="0">
                <a:solidFill>
                  <a:srgbClr val="8C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PowerBI Developer &amp; </a:t>
            </a:r>
            <a:r>
              <a:rPr lang="en-US" sz="1200" dirty="0">
                <a:solidFill>
                  <a:srgbClr val="8C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594360"/>
            <a:ext cx="109728" cy="109728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Objective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e-commerce companies generate huge volumes of order-level data but struggle to convert it into fast, decision-ready insight for leadership, category, and operations teams.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3383280"/>
            <a:ext cx="1280160" cy="0"/>
          </a:xfrm>
          <a:prstGeom prst="line">
            <a:avLst/>
          </a:prstGeom>
          <a:noFill/>
          <a:ln w="19050">
            <a:solidFill>
              <a:srgbClr val="FFC10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61188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 3-page Power BI solution — from raw CSVs to a governed star-schema model to an interactive, drillthrough-enabled dashboard.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2412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4709160" y="1024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C1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257800" y="96012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Revenue &amp; Growth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257800" y="1280160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overall revenue, order volume, and monthly trend across FY24-25.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207568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2075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C1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57800" y="201168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 Product Mix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257800" y="2331720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 categories, brands, and customer segments driving sales.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312724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4709160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C1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57800" y="306324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 Operations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257800" y="3383280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warehouse performance, delivery time, shipping cost, and returns.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41788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C1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57800" y="411480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Enable Self-Service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257800" y="4434840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stakeholders slice by region and date without touching raw data.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09728" cy="109728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 — Star Schema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source CSVs modeled into one fact table and four dimension tables for clean, fast DAX.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709160" y="2331720"/>
            <a:ext cx="2743200" cy="150876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09160" y="24414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FACT_SALES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846320" y="2807208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OrderID · Quantity · TotalBill</a:t>
            </a:r>
            <a:endParaRPr lang="en-US" sz="10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ReturnFlag · IsFestiveSale</a:t>
            </a:r>
            <a:endParaRPr lang="en-US" sz="10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DeliveryDays · ShippingCost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502920"/>
            <a:ext cx="27432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635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576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DIM_DATE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800600" y="8686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· Month</a:t>
            </a:r>
            <a:endParaRPr lang="en-US" sz="10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· Quarter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321040" y="1417320"/>
            <a:ext cx="27432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635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21040" y="1490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DIM_PRODUCT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412480" y="17830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· Brand</a:t>
            </a:r>
            <a:endParaRPr lang="en-US" sz="10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Name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321040" y="3794760"/>
            <a:ext cx="27432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635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21040" y="38679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DIM_CUSTOMER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12480" y="41605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CustomerID</a:t>
            </a:r>
            <a:endParaRPr lang="en-US" sz="10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4709160"/>
            <a:ext cx="27432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635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9160" y="47823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DIM_REGION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800600" y="50749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· State</a:t>
            </a:r>
            <a:endParaRPr lang="en-US" sz="10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51560" y="2651760"/>
            <a:ext cx="24688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635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51560" y="27249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DIM_PAYMENT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43000" y="30175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PaymentMethod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80760" y="1463040"/>
            <a:ext cx="0" cy="868680"/>
          </a:xfrm>
          <a:prstGeom prst="line">
            <a:avLst/>
          </a:prstGeom>
          <a:noFill/>
          <a:ln w="19050">
            <a:solidFill>
              <a:srgbClr val="8C9BC9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 flipV="1">
            <a:off x="7452360" y="2029968"/>
            <a:ext cx="868680" cy="347472"/>
          </a:xfrm>
          <a:prstGeom prst="line">
            <a:avLst/>
          </a:prstGeom>
          <a:noFill/>
          <a:ln w="19050">
            <a:solidFill>
              <a:srgbClr val="8C9BC9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7452360" y="3291840"/>
            <a:ext cx="868680" cy="731520"/>
          </a:xfrm>
          <a:prstGeom prst="line">
            <a:avLst/>
          </a:prstGeom>
          <a:noFill/>
          <a:ln w="19050">
            <a:solidFill>
              <a:srgbClr val="8C9BC9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6080760" y="3840480"/>
            <a:ext cx="0" cy="868680"/>
          </a:xfrm>
          <a:prstGeom prst="line">
            <a:avLst/>
          </a:prstGeom>
          <a:noFill/>
          <a:ln w="19050">
            <a:solidFill>
              <a:srgbClr val="8C9BC9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3520440" y="3063240"/>
            <a:ext cx="1188720" cy="45720"/>
          </a:xfrm>
          <a:prstGeom prst="line">
            <a:avLst/>
          </a:prstGeom>
          <a:noFill/>
          <a:ln w="19050">
            <a:solidFill>
              <a:srgbClr val="8C9BC9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109728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01 · SALES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Sales Overview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600200" cy="868680"/>
          </a:xfrm>
          <a:prstGeom prst="roundRect">
            <a:avLst>
              <a:gd name="adj" fmla="val 6316"/>
            </a:avLst>
          </a:prstGeom>
          <a:solidFill>
            <a:srgbClr val="F4F6F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984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₹156.64M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94560" y="1234440"/>
            <a:ext cx="1600200" cy="868680"/>
          </a:xfrm>
          <a:prstGeom prst="roundRect">
            <a:avLst>
              <a:gd name="adj" fmla="val 6316"/>
            </a:avLst>
          </a:prstGeom>
          <a:solidFill>
            <a:srgbClr val="F4F6FC"/>
          </a:solidFill>
          <a:ln/>
        </p:spPr>
      </p:sp>
      <p:sp>
        <p:nvSpPr>
          <p:cNvPr id="9" name="Text 7"/>
          <p:cNvSpPr/>
          <p:nvPr/>
        </p:nvSpPr>
        <p:spPr>
          <a:xfrm>
            <a:off x="2194560" y="12984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6K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194560" y="1783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931920" y="1234440"/>
            <a:ext cx="1600200" cy="868680"/>
          </a:xfrm>
          <a:prstGeom prst="roundRect">
            <a:avLst>
              <a:gd name="adj" fmla="val 6316"/>
            </a:avLst>
          </a:prstGeom>
          <a:solidFill>
            <a:srgbClr val="F4F6FC"/>
          </a:solidFill>
          <a:ln/>
        </p:spPr>
      </p:sp>
      <p:sp>
        <p:nvSpPr>
          <p:cNvPr id="12" name="Text 10"/>
          <p:cNvSpPr/>
          <p:nvPr/>
        </p:nvSpPr>
        <p:spPr>
          <a:xfrm>
            <a:off x="3931920" y="12984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West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931920" y="1783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Region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233172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82296" cy="82296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670048"/>
            <a:ext cx="5440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and North regions together drive over half of total revenue, led by West at ~₹42M.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547872"/>
            <a:ext cx="82296" cy="82296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419856"/>
            <a:ext cx="5440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is the dominant payment method at 36.76% of revenue, ahead of Wallet and Net Banking.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297680"/>
            <a:ext cx="82296" cy="82296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169664"/>
            <a:ext cx="5440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alone contributes close to 90% of category revenue — a heavy category concentration.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5047488"/>
            <a:ext cx="82296" cy="82296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919472"/>
            <a:ext cx="5440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13.93% of orders are festive-sale, yet the monthly trend still peaks sharply around Oct–Nov.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00216" y="996696"/>
            <a:ext cx="5641848" cy="3199510"/>
          </a:xfrm>
          <a:prstGeom prst="roundRect">
            <a:avLst>
              <a:gd name="adj" fmla="val 1143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4" name="Image 0" descr="Executive_Sales_Dashboa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051560"/>
            <a:ext cx="5532120" cy="3089782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109728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02 · PRODUCT PERFORMANCE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Performance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600200" cy="868680"/>
          </a:xfrm>
          <a:prstGeom prst="roundRect">
            <a:avLst>
              <a:gd name="adj" fmla="val 6316"/>
            </a:avLst>
          </a:prstGeom>
          <a:solidFill>
            <a:srgbClr val="F4F6F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984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₹26.11K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94560" y="1234440"/>
            <a:ext cx="1600200" cy="868680"/>
          </a:xfrm>
          <a:prstGeom prst="roundRect">
            <a:avLst>
              <a:gd name="adj" fmla="val 6316"/>
            </a:avLst>
          </a:prstGeom>
          <a:solidFill>
            <a:srgbClr val="F4F6FC"/>
          </a:solidFill>
          <a:ln/>
        </p:spPr>
      </p:sp>
      <p:sp>
        <p:nvSpPr>
          <p:cNvPr id="9" name="Text 7"/>
          <p:cNvSpPr/>
          <p:nvPr/>
        </p:nvSpPr>
        <p:spPr>
          <a:xfrm>
            <a:off x="2194560" y="12984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45.1%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194560" y="1783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Segment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931920" y="1234440"/>
            <a:ext cx="1600200" cy="868680"/>
          </a:xfrm>
          <a:prstGeom prst="roundRect">
            <a:avLst>
              <a:gd name="adj" fmla="val 6316"/>
            </a:avLst>
          </a:prstGeom>
          <a:solidFill>
            <a:srgbClr val="F4F6FC"/>
          </a:solidFill>
          <a:ln/>
        </p:spPr>
      </p:sp>
      <p:sp>
        <p:nvSpPr>
          <p:cNvPr id="12" name="Text 10"/>
          <p:cNvSpPr/>
          <p:nvPr/>
        </p:nvSpPr>
        <p:spPr>
          <a:xfrm>
            <a:off x="3931920" y="12984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931920" y="1783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Brand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233172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82296" cy="82296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670048"/>
            <a:ext cx="5440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Boat leads brand-wise revenue at ~₹20M, followed by Xiaomi, Noise, and Realme.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547872"/>
            <a:ext cx="82296" cy="82296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419856"/>
            <a:ext cx="5440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dominates revenue share in the category funnel at 96.63%, dwarfing every other category.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297680"/>
            <a:ext cx="82296" cy="82296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169664"/>
            <a:ext cx="5440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customers generate 45.11% of revenue, with Premium customers close behind at 32.72%.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5047488"/>
            <a:ext cx="82296" cy="82296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919472"/>
            <a:ext cx="5440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units sold, Nike is the top-selling brand, well ahead of Roadster and Penguin.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00216" y="996696"/>
            <a:ext cx="5641848" cy="3204397"/>
          </a:xfrm>
          <a:prstGeom prst="roundRect">
            <a:avLst>
              <a:gd name="adj" fmla="val 1141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4" name="Image 0" descr="Product_Performanc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051560"/>
            <a:ext cx="5532120" cy="3094669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109728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03 · OPERATIONS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 Dashboard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600200" cy="868680"/>
          </a:xfrm>
          <a:prstGeom prst="roundRect">
            <a:avLst>
              <a:gd name="adj" fmla="val 6316"/>
            </a:avLst>
          </a:prstGeom>
          <a:solidFill>
            <a:srgbClr val="F4F6F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984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days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Delivery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94560" y="1234440"/>
            <a:ext cx="1600200" cy="868680"/>
          </a:xfrm>
          <a:prstGeom prst="roundRect">
            <a:avLst>
              <a:gd name="adj" fmla="val 6316"/>
            </a:avLst>
          </a:prstGeom>
          <a:solidFill>
            <a:srgbClr val="F4F6FC"/>
          </a:solidFill>
          <a:ln/>
        </p:spPr>
      </p:sp>
      <p:sp>
        <p:nvSpPr>
          <p:cNvPr id="9" name="Text 7"/>
          <p:cNvSpPr/>
          <p:nvPr/>
        </p:nvSpPr>
        <p:spPr>
          <a:xfrm>
            <a:off x="2194560" y="12984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Kolkata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194560" y="1783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Warehouse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931920" y="1234440"/>
            <a:ext cx="1600200" cy="868680"/>
          </a:xfrm>
          <a:prstGeom prst="roundRect">
            <a:avLst>
              <a:gd name="adj" fmla="val 6316"/>
            </a:avLst>
          </a:prstGeom>
          <a:solidFill>
            <a:srgbClr val="F4F6FC"/>
          </a:solidFill>
          <a:ln/>
        </p:spPr>
      </p:sp>
      <p:sp>
        <p:nvSpPr>
          <p:cNvPr id="12" name="Text 10"/>
          <p:cNvSpPr/>
          <p:nvPr/>
        </p:nvSpPr>
        <p:spPr>
          <a:xfrm>
            <a:off x="3931920" y="12984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9,108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931920" y="1783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Tracked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233172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82296" cy="82296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670048"/>
            <a:ext cx="5440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Kolkata warehouse leads throughput at ~₹23M, with Delhi trailing all listed warehouses.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547872"/>
            <a:ext cx="82296" cy="82296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419856"/>
            <a:ext cx="5440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rating and delivery days move inversely from North to South — slower delivery, lower rating.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297680"/>
            <a:ext cx="82296" cy="82296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169664"/>
            <a:ext cx="5440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region carries the highest shipping cost, despite also being the top revenue region.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5047488"/>
            <a:ext cx="82296" cy="82296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919472"/>
            <a:ext cx="5440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has the highest return count (251 units) among returned orders, ahead of Home &amp; Kitchen.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00216" y="996696"/>
            <a:ext cx="5641848" cy="3188085"/>
          </a:xfrm>
          <a:prstGeom prst="roundRect">
            <a:avLst>
              <a:gd name="adj" fmla="val 1147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4" name="Image 0" descr="Operations_Dashboa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051560"/>
            <a:ext cx="5532120" cy="3078357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DAX Measures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sample of measures written to power the KPI cards and % breakdowns above.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86400" cy="2286000"/>
          </a:xfrm>
          <a:prstGeom prst="roundRect">
            <a:avLst>
              <a:gd name="adj" fmla="val 2400"/>
            </a:avLst>
          </a:prstGeom>
          <a:solidFill>
            <a:srgbClr val="141B4D"/>
          </a:solidFill>
          <a:ln w="9525">
            <a:solidFill>
              <a:srgbClr val="8C9B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8191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C1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Revenue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96596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Revenue = SUM(Fact_Sales[TotalBill])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417320"/>
            <a:ext cx="5486400" cy="2286000"/>
          </a:xfrm>
          <a:prstGeom prst="roundRect">
            <a:avLst>
              <a:gd name="adj" fmla="val 2400"/>
            </a:avLst>
          </a:prstGeom>
          <a:solidFill>
            <a:srgbClr val="141B4D"/>
          </a:solidFill>
          <a:ln w="9525">
            <a:solidFill>
              <a:srgbClr val="8C9B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58191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C1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Festive Sales %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46520" y="196596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Festive Sales % =</a:t>
            </a:r>
            <a:endParaRPr lang="en-US" sz="14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400" dirty="0" smtClean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</a:t>
            </a:r>
            <a:r>
              <a:rPr lang="en-US" sz="14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Revenue], Fact_Sales[IsFestiveSale]="Yes"),</a:t>
            </a:r>
            <a:endParaRPr lang="en-US" sz="14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4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[Total Revenue]</a:t>
            </a:r>
            <a:endParaRPr lang="en-US" sz="14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4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977640"/>
            <a:ext cx="5486400" cy="2286000"/>
          </a:xfrm>
          <a:prstGeom prst="roundRect">
            <a:avLst>
              <a:gd name="adj" fmla="val 2400"/>
            </a:avLst>
          </a:prstGeom>
          <a:solidFill>
            <a:srgbClr val="141B4D"/>
          </a:solidFill>
          <a:ln w="9525">
            <a:solidFill>
              <a:srgbClr val="8C9B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414223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C1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Avg Order Value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452628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 Order Value =</a:t>
            </a:r>
            <a:endParaRPr lang="en-US" sz="14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400" dirty="0" smtClean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4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</a:t>
            </a:r>
            <a:r>
              <a:rPr lang="en-US" sz="1400" dirty="0" smtClean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Revenue]/COUNT(</a:t>
            </a:r>
            <a:r>
              <a:rPr lang="en-US" sz="1400" dirty="0" err="1" smtClean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Fact_Sales</a:t>
            </a:r>
            <a:r>
              <a:rPr lang="en-US" sz="1400" dirty="0" smtClean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400" dirty="0" err="1" smtClean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OrderID</a:t>
            </a:r>
            <a:r>
              <a:rPr lang="en-US" sz="14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3977640"/>
            <a:ext cx="5486400" cy="2286000"/>
          </a:xfrm>
          <a:prstGeom prst="roundRect">
            <a:avLst>
              <a:gd name="adj" fmla="val 2400"/>
            </a:avLst>
          </a:prstGeom>
          <a:solidFill>
            <a:srgbClr val="141B4D"/>
          </a:solidFill>
          <a:ln w="9525">
            <a:solidFill>
              <a:srgbClr val="8C9B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414223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C1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Rate %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46520" y="452628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Rate % </a:t>
            </a:r>
            <a:r>
              <a:rPr lang="en-US" sz="14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</a:p>
          <a:p>
            <a: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(Fact_Orders[Total </a:t>
            </a:r>
            <a: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4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]/</a:t>
            </a:r>
          </a:p>
          <a:p>
            <a:r>
              <a:rPr lang="en-US" sz="14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Fact_Orders[Total </a:t>
            </a:r>
            <a: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Orders])*100</a:t>
            </a:r>
          </a:p>
        </p:txBody>
      </p:sp>
      <p:sp>
        <p:nvSpPr>
          <p:cNvPr id="18" name="Text 1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103120"/>
            <a:ext cx="109728" cy="109728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3774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3246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Analytics — Power BI Portfolio Project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3840480"/>
            <a:ext cx="1280160" cy="0"/>
          </a:xfrm>
          <a:prstGeom prst="line">
            <a:avLst/>
          </a:prstGeom>
          <a:noFill/>
          <a:ln w="19050">
            <a:solidFill>
              <a:srgbClr val="FFC10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114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Karan Pawar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4526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smtClean="0">
                <a:solidFill>
                  <a:srgbClr val="8C9BC9"/>
                </a:solidFill>
                <a:latin typeface="Calibri" pitchFamily="34" charset="0"/>
                <a:cs typeface="Calibri" pitchFamily="34" charset="-120"/>
              </a:rPr>
              <a:t>karanp3341@gmail.com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482803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8C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</a:t>
            </a:r>
            <a:r>
              <a:rPr lang="en-US" sz="1200" dirty="0" smtClean="0">
                <a:solidFill>
                  <a:srgbClr val="8C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www.linkedin.com/in/karan-pawar-9a645a2ab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584</Words>
  <Application>Microsoft Office PowerPoint</Application>
  <PresentationFormat>Widescreen</PresentationFormat>
  <Paragraphs>117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System Plus</cp:lastModifiedBy>
  <cp:revision>5</cp:revision>
  <dcterms:created xsi:type="dcterms:W3CDTF">2026-08-04T09:28:49Z</dcterms:created>
  <dcterms:modified xsi:type="dcterms:W3CDTF">2026-08-04T10:09:50Z</dcterms:modified>
</cp:coreProperties>
</file>